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714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21208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</a:rPr>
              <a:t>DiaTwin  |  synthetic data  |  not a medical device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21208" y="365760"/>
            <a:ext cx="11155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1F3A5F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DiaTwin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A Type 2 diabetes digital twin that fuses EHR and wearable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Happiest Health Digital Twin Challenge 2026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[Code Catalyst]   |   [Prince Maurya]   |   [Kashi Institute Of Technology]   |   [7355071588]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Educational prototype. Trained and evaluated on synthetic data. Not a medical device.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21208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</a:rPr>
              <a:t>Problem and healthcare use case</a:t>
            </a:r>
            <a:endParaRPr lang="en-US" sz="3000" dirty="0"/>
          </a:p>
        </p:txBody>
      </p:sp>
      <p:sp>
        <p:nvSpPr>
          <p:cNvPr id="3" name="card Problem"/>
          <p:cNvSpPr/>
          <p:nvPr/>
        </p:nvSpPr>
        <p:spPr>
          <a:xfrm>
            <a:off x="521208" y="1463040"/>
            <a:ext cx="54178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" name="accent Problem"/>
          <p:cNvSpPr/>
          <p:nvPr/>
        </p:nvSpPr>
        <p:spPr>
          <a:xfrm>
            <a:off x="521208" y="1554480"/>
            <a:ext cx="82296" cy="4297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160020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94560"/>
            <a:ext cx="49606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Glucose monitors report a rise after it has happened.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care team needs a warning before a post-meal rise, with reasons, and a way to compare meal and activity options.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 records and wearable streams are rarely combined into one patient model.</a:t>
            </a:r>
            <a:endParaRPr lang="en-US" sz="1400" dirty="0"/>
          </a:p>
        </p:txBody>
      </p:sp>
      <p:sp>
        <p:nvSpPr>
          <p:cNvPr id="7" name="card Use case"/>
          <p:cNvSpPr/>
          <p:nvPr/>
        </p:nvSpPr>
        <p:spPr>
          <a:xfrm>
            <a:off x="6259068" y="1463040"/>
            <a:ext cx="54178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accent Use case"/>
          <p:cNvSpPr/>
          <p:nvPr/>
        </p:nvSpPr>
        <p:spPr>
          <a:xfrm>
            <a:off x="6259068" y="1554480"/>
            <a:ext cx="82296" cy="42976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3388" y="160020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Use case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3388" y="2194560"/>
            <a:ext cx="49606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dashboard for a Type 2 diabetes care team, and a learning tool.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of a glucose rise of 50 mg/dL or more in the next 2 hours, with plain-language reasons.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2-hour glucose forecast with a range.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What-if scenarios for meals and activity only. No insulin or medication scenarios.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21208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</a:rPr>
              <a:t>Architecture</a:t>
            </a:r>
            <a:endParaRPr lang="en-US" sz="3000" dirty="0"/>
          </a:p>
        </p:txBody>
      </p:sp>
      <p:sp>
        <p:nvSpPr>
          <p:cNvPr id="3" name="Data"/>
          <p:cNvSpPr/>
          <p:nvPr/>
        </p:nvSpPr>
        <p:spPr>
          <a:xfrm>
            <a:off x="521208" y="1554480"/>
            <a:ext cx="1901952" cy="3291840"/>
          </a:xfrm>
          <a:prstGeom prst="roundRect">
            <a:avLst>
              <a:gd name="adj" fmla="val 384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Data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Synthetic EHR and wearable data: glucose, heart rate, steps, sleep, meals</a:t>
            </a:r>
            <a:endParaRPr lang="en-US" sz="1500" dirty="0"/>
          </a:p>
        </p:txBody>
      </p:sp>
      <p:sp>
        <p:nvSpPr>
          <p:cNvPr id="4" name="Causal features"/>
          <p:cNvSpPr/>
          <p:nvPr/>
        </p:nvSpPr>
        <p:spPr>
          <a:xfrm>
            <a:off x="2834640" y="1554480"/>
            <a:ext cx="1901952" cy="32918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Causal features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Built from past data only. Missing values are kept and flagged</a:t>
            </a:r>
            <a:endParaRPr lang="en-US" sz="1500" dirty="0"/>
          </a:p>
        </p:txBody>
      </p:sp>
      <p:sp>
        <p:nvSpPr>
          <p:cNvPr id="5" name="Risk model"/>
          <p:cNvSpPr/>
          <p:nvPr/>
        </p:nvSpPr>
        <p:spPr>
          <a:xfrm>
            <a:off x="5148072" y="1554480"/>
            <a:ext cx="190195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Risk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XGBoost, calibrated probability, SHAP reasons</a:t>
            </a:r>
            <a:endParaRPr lang="en-US" sz="1500" dirty="0"/>
          </a:p>
        </p:txBody>
      </p:sp>
      <p:sp>
        <p:nvSpPr>
          <p:cNvPr id="6" name="2-hour forecast"/>
          <p:cNvSpPr/>
          <p:nvPr/>
        </p:nvSpPr>
        <p:spPr>
          <a:xfrm>
            <a:off x="5148072" y="2697480"/>
            <a:ext cx="190195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2-hour forecast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Quantile models with conformal intervals</a:t>
            </a:r>
            <a:endParaRPr lang="en-US" sz="1500" dirty="0"/>
          </a:p>
        </p:txBody>
      </p:sp>
      <p:sp>
        <p:nvSpPr>
          <p:cNvPr id="7" name="What-if simulator"/>
          <p:cNvSpPr/>
          <p:nvPr/>
        </p:nvSpPr>
        <p:spPr>
          <a:xfrm>
            <a:off x="5148072" y="3840480"/>
            <a:ext cx="190195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What-if simulator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Glucose dynamics model, per-patient parameters, ensemble</a:t>
            </a:r>
            <a:endParaRPr lang="en-US" sz="1500" dirty="0"/>
          </a:p>
        </p:txBody>
      </p:sp>
      <p:sp>
        <p:nvSpPr>
          <p:cNvPr id="8" name="Twin state engine"/>
          <p:cNvSpPr/>
          <p:nvPr/>
        </p:nvSpPr>
        <p:spPr>
          <a:xfrm>
            <a:off x="7461504" y="1554480"/>
            <a:ext cx="1901952" cy="3291840"/>
          </a:xfrm>
          <a:prstGeom prst="roundRect">
            <a:avLst>
              <a:gd name="adj" fmla="val 384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Twin state engine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Live state per patient: risk band, reasons, forecast, data quality, alerts</a:t>
            </a:r>
            <a:endParaRPr lang="en-US" sz="1500" dirty="0"/>
          </a:p>
        </p:txBody>
      </p:sp>
      <p:sp>
        <p:nvSpPr>
          <p:cNvPr id="9" name="Dashboard"/>
          <p:cNvSpPr/>
          <p:nvPr/>
        </p:nvSpPr>
        <p:spPr>
          <a:xfrm>
            <a:off x="9774936" y="1554480"/>
            <a:ext cx="1901952" cy="3291840"/>
          </a:xfrm>
          <a:prstGeom prst="roundRect">
            <a:avLst>
              <a:gd name="adj" fmla="val 3846"/>
            </a:avLst>
          </a:prstGeom>
          <a:solidFill>
            <a:schemeClr val="accent3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Dashboard</a:t>
            </a:r>
            <a:endParaRPr lang="en-US" sz="15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Streamlit: patient list, live twin, what-if, model insights</a:t>
            </a:r>
            <a:endParaRPr lang="en-US" sz="1500" dirty="0"/>
          </a:p>
        </p:txBody>
      </p:sp>
      <p:sp>
        <p:nvSpPr>
          <p:cNvPr id="10" name="arrow 0"/>
          <p:cNvSpPr/>
          <p:nvPr/>
        </p:nvSpPr>
        <p:spPr>
          <a:xfrm>
            <a:off x="2446020" y="3026664"/>
            <a:ext cx="365760" cy="34747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arrow 1"/>
          <p:cNvSpPr/>
          <p:nvPr/>
        </p:nvSpPr>
        <p:spPr>
          <a:xfrm>
            <a:off x="4759452" y="3026664"/>
            <a:ext cx="365760" cy="34747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arrow 2"/>
          <p:cNvSpPr/>
          <p:nvPr/>
        </p:nvSpPr>
        <p:spPr>
          <a:xfrm>
            <a:off x="7072884" y="3026664"/>
            <a:ext cx="365760" cy="34747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arrow 3"/>
          <p:cNvSpPr/>
          <p:nvPr/>
        </p:nvSpPr>
        <p:spPr>
          <a:xfrm>
            <a:off x="9386316" y="3026664"/>
            <a:ext cx="365760" cy="34747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4" name="integrity band"/>
          <p:cNvSpPr/>
          <p:nvPr/>
        </p:nvSpPr>
        <p:spPr>
          <a:xfrm>
            <a:off x="521208" y="5166360"/>
            <a:ext cx="11155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Frozen artifacts with SHA-256 manifests  |  patient-wise splits  |  causal features  |  test evaluated after the freeze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21208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</a:rPr>
              <a:t>Data and evaluation protocol</a:t>
            </a:r>
            <a:endParaRPr lang="en-US" sz="3000" dirty="0"/>
          </a:p>
        </p:txBody>
      </p:sp>
      <p:sp>
        <p:nvSpPr>
          <p:cNvPr id="3" name="card Synthetic cohort"/>
          <p:cNvSpPr/>
          <p:nvPr/>
        </p:nvSpPr>
        <p:spPr>
          <a:xfrm>
            <a:off x="521208" y="1463040"/>
            <a:ext cx="3505200" cy="4572000"/>
          </a:xfrm>
          <a:prstGeom prst="roundRect">
            <a:avLst>
              <a:gd name="adj" fmla="val 208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" name="accent Synthetic cohort"/>
          <p:cNvSpPr/>
          <p:nvPr/>
        </p:nvSpPr>
        <p:spPr>
          <a:xfrm>
            <a:off x="521208" y="1554480"/>
            <a:ext cx="82296" cy="4389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16002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Synthetic cohort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9456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40 synthetic patients, 21 days each, readings every 5 minutes.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Glucose, heart rate, steps, sleep, meals and an EHR profile.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Patient-wise train, validation and test split (28, 6, 6).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Features use past data only.</a:t>
            </a:r>
            <a:endParaRPr lang="en-US" sz="1400" dirty="0"/>
          </a:p>
        </p:txBody>
      </p:sp>
      <p:sp>
        <p:nvSpPr>
          <p:cNvPr id="7" name="card Real cohort (realism check)"/>
          <p:cNvSpPr/>
          <p:nvPr/>
        </p:nvSpPr>
        <p:spPr>
          <a:xfrm>
            <a:off x="4346448" y="1463040"/>
            <a:ext cx="3505200" cy="4572000"/>
          </a:xfrm>
          <a:prstGeom prst="roundRect">
            <a:avLst>
              <a:gd name="adj" fmla="val 208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accent Real cohort (realism check)"/>
          <p:cNvSpPr/>
          <p:nvPr/>
        </p:nvSpPr>
        <p:spPr>
          <a:xfrm>
            <a:off x="4346448" y="1554480"/>
            <a:ext cx="82296" cy="43891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20768" y="16002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 cohort (realism check)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20768" y="219456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ShanghaiT2DM: 100 patients, 109 recordings, 112,462 CGM readings.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 glucose about 141 mg/dL (real) against about 219 mg/dL (synthetic), patient-level.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models are not validated on real people.</a:t>
            </a:r>
            <a:endParaRPr lang="en-US" sz="1400" dirty="0"/>
          </a:p>
        </p:txBody>
      </p:sp>
      <p:sp>
        <p:nvSpPr>
          <p:cNvPr id="11" name="card Integrity record"/>
          <p:cNvSpPr/>
          <p:nvPr/>
        </p:nvSpPr>
        <p:spPr>
          <a:xfrm>
            <a:off x="8171688" y="1463040"/>
            <a:ext cx="3505200" cy="4572000"/>
          </a:xfrm>
          <a:prstGeom prst="roundRect">
            <a:avLst>
              <a:gd name="adj" fmla="val 208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accent Integrity record"/>
          <p:cNvSpPr/>
          <p:nvPr/>
        </p:nvSpPr>
        <p:spPr>
          <a:xfrm>
            <a:off x="8171688" y="1554480"/>
            <a:ext cx="82296" cy="43891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46008" y="16002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Integrity record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46008" y="219456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Model, calibrator and thresholds are frozen with SHA-256 manifests.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model: the freeze commit precedes the test evaluation in git.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Forecast and what-if: manifest and test marker were committed together, so the order cannot be shown from git.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21208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</a:rPr>
              <a:t>Results in this synthetic setting</a:t>
            </a:r>
            <a:endParaRPr lang="en-US" sz="3000" dirty="0"/>
          </a:p>
        </p:txBody>
      </p:sp>
      <p:sp>
        <p:nvSpPr>
          <p:cNvPr id="3" name="card Risk model (test, 6 patients)"/>
          <p:cNvSpPr/>
          <p:nvPr/>
        </p:nvSpPr>
        <p:spPr>
          <a:xfrm>
            <a:off x="521208" y="1463040"/>
            <a:ext cx="3505200" cy="4572000"/>
          </a:xfrm>
          <a:prstGeom prst="roundRect">
            <a:avLst>
              <a:gd name="adj" fmla="val 208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" name="accent Risk model (test, 6 patients)"/>
          <p:cNvSpPr/>
          <p:nvPr/>
        </p:nvSpPr>
        <p:spPr>
          <a:xfrm>
            <a:off x="521208" y="1554480"/>
            <a:ext cx="82296" cy="4389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16002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Risk model (test, 6 patients)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9456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ROC-AUC 0.925 (95% CI 0.907 to 0.944).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Calibration error (ECE) 0.0275.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band: precision 61.0%, recall 67.2% (row level).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Medium band: precision 41.0%, recall 91.4% (row level).</a:t>
            </a:r>
            <a:endParaRPr lang="en-US" sz="1400" dirty="0"/>
          </a:p>
        </p:txBody>
      </p:sp>
      <p:sp>
        <p:nvSpPr>
          <p:cNvPr id="7" name="card Forecast (validation)"/>
          <p:cNvSpPr/>
          <p:nvPr/>
        </p:nvSpPr>
        <p:spPr>
          <a:xfrm>
            <a:off x="4346448" y="1463040"/>
            <a:ext cx="3505200" cy="4572000"/>
          </a:xfrm>
          <a:prstGeom prst="roundRect">
            <a:avLst>
              <a:gd name="adj" fmla="val 208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accent Forecast (validation)"/>
          <p:cNvSpPr/>
          <p:nvPr/>
        </p:nvSpPr>
        <p:spPr>
          <a:xfrm>
            <a:off x="4346448" y="1554480"/>
            <a:ext cx="82296" cy="43891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20768" y="16002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Forecast (validation)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20768" y="219456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60-minute RMSE 18.41 mg/dL.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80% interval covers 80.0% on the split used to calibrate 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Held-out test metrics were not saved.</a:t>
            </a:r>
            <a:endParaRPr lang="en-US" sz="1400" dirty="0"/>
          </a:p>
        </p:txBody>
      </p:sp>
      <p:sp>
        <p:nvSpPr>
          <p:cNvPr id="11" name="card What-if (stored test result)"/>
          <p:cNvSpPr/>
          <p:nvPr/>
        </p:nvSpPr>
        <p:spPr>
          <a:xfrm>
            <a:off x="8171688" y="1463040"/>
            <a:ext cx="3505200" cy="4572000"/>
          </a:xfrm>
          <a:prstGeom prst="roundRect">
            <a:avLst>
              <a:gd name="adj" fmla="val 208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accent What-if (stored test result)"/>
          <p:cNvSpPr/>
          <p:nvPr/>
        </p:nvSpPr>
        <p:spPr>
          <a:xfrm>
            <a:off x="8171688" y="1554480"/>
            <a:ext cx="82296" cy="43891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46008" y="16002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What-if (stored test result)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46008" y="219456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 error 1.0, 10.2 and 11.5 mg/dL for three scenarios.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80% effect intervals covered the true effect 0%, 17% and 0% of the time.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bands under-cover; read the ranges as optimistic.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21208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</a:rPr>
              <a:t>Dashboard and example moment</a:t>
            </a:r>
            <a:endParaRPr lang="en-US" sz="3000" dirty="0"/>
          </a:p>
        </p:txBody>
      </p:sp>
      <p:sp>
        <p:nvSpPr>
          <p:cNvPr id="3" name="card Pages"/>
          <p:cNvSpPr/>
          <p:nvPr/>
        </p:nvSpPr>
        <p:spPr>
          <a:xfrm>
            <a:off x="521208" y="1463040"/>
            <a:ext cx="54178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" name="accent Pages"/>
          <p:cNvSpPr/>
          <p:nvPr/>
        </p:nvSpPr>
        <p:spPr>
          <a:xfrm>
            <a:off x="521208" y="1554480"/>
            <a:ext cx="82296" cy="4297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160020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Pages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94560"/>
            <a:ext cx="49606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 List.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Twin: risk band, top three reasons, 2-hour forecast band.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What-if Simulator: meal and activity scenarios with a confidence label.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Insights: metrics, integrity record, limitations.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About, and an experimental page for your own readings (local only).</a:t>
            </a:r>
            <a:endParaRPr lang="en-US" sz="1400" dirty="0"/>
          </a:p>
        </p:txBody>
      </p:sp>
      <p:sp>
        <p:nvSpPr>
          <p:cNvPr id="7" name="card Example moment (synthetic)"/>
          <p:cNvSpPr/>
          <p:nvPr/>
        </p:nvSpPr>
        <p:spPr>
          <a:xfrm>
            <a:off x="6259068" y="1463040"/>
            <a:ext cx="54178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accent Example moment (synthetic)"/>
          <p:cNvSpPr/>
          <p:nvPr/>
        </p:nvSpPr>
        <p:spPr>
          <a:xfrm>
            <a:off x="6259068" y="1554480"/>
            <a:ext cx="82296" cy="42976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3388" y="160020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 moment (synthetic)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3388" y="2194560"/>
            <a:ext cx="49606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 P007 at 21:50.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Glucose 191.4 mg/dL, risk band High.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Calibrated probability 0.967.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Predicted peak 302.3 mg/dL.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selected example, not a typical moment.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21208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3" name="card Limitations"/>
          <p:cNvSpPr/>
          <p:nvPr/>
        </p:nvSpPr>
        <p:spPr>
          <a:xfrm>
            <a:off x="521208" y="1463040"/>
            <a:ext cx="54178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" name="accent Limitations"/>
          <p:cNvSpPr/>
          <p:nvPr/>
        </p:nvSpPr>
        <p:spPr>
          <a:xfrm>
            <a:off x="521208" y="1554480"/>
            <a:ext cx="82296" cy="42976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160020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194560"/>
            <a:ext cx="49606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Synthetic data and simplified physiology; synthetic glucose runs higher than the real cohort.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6 test patients, so the intervals are wide.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What-if intervals under-cover; forecast test metrics were not saved.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validated on real people. Type 2 diabetes only. No medication modelling.</a:t>
            </a:r>
            <a:endParaRPr lang="en-US" sz="1400" dirty="0"/>
          </a:p>
        </p:txBody>
      </p:sp>
      <p:sp>
        <p:nvSpPr>
          <p:cNvPr id="7" name="card Next steps"/>
          <p:cNvSpPr/>
          <p:nvPr/>
        </p:nvSpPr>
        <p:spPr>
          <a:xfrm>
            <a:off x="6259068" y="1463040"/>
            <a:ext cx="54178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accent Next steps"/>
          <p:cNvSpPr/>
          <p:nvPr/>
        </p:nvSpPr>
        <p:spPr>
          <a:xfrm>
            <a:off x="6259068" y="1554480"/>
            <a:ext cx="82296" cy="4297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3388" y="160020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3388" y="2194560"/>
            <a:ext cx="49606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Rebuild the synthetic cohort to match the real glucose level.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 on real CGM data with patient-wise cross-validation.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Calibrate the what-if intervals and tune the alert policy.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a held-out evaluation for the forecast.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Twin">
  <a:themeElements>
    <a:clrScheme name="DiaTwin">
      <a:dk1>
        <a:srgbClr val="1B263B"/>
      </a:dk1>
      <a:lt1>
        <a:srgbClr val="FFFFFF"/>
      </a:lt1>
      <a:dk2>
        <a:srgbClr val="1F3A5F"/>
      </a:dk2>
      <a:lt2>
        <a:srgbClr val="F1F5F9"/>
      </a:lt2>
      <a:accent1>
        <a:srgbClr val="2A9D8F"/>
      </a:accent1>
      <a:accent2>
        <a:srgbClr val="1F3A5F"/>
      </a:accent2>
      <a:accent3>
        <a:srgbClr val="E76F51"/>
      </a:accent3>
      <a:accent4>
        <a:srgbClr val="E9C46A"/>
      </a:accent4>
      <a:accent5>
        <a:srgbClr val="5B7DB1"/>
      </a:accent5>
      <a:accent6>
        <a:srgbClr val="8D99AE"/>
      </a:accent6>
      <a:hlink>
        <a:srgbClr val="1F6FEB"/>
      </a:hlink>
      <a:folHlink>
        <a:srgbClr val="5B7DB1"/>
      </a:folHlink>
    </a:clrScheme>
    <a:fontScheme name="DiaTw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PresentationFormat>Widescreen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DiaTwin</vt:lpstr>
      <vt:lpstr>PowerPoint Presentation</vt:lpstr>
      <vt:lpstr>Problem and healthcare use case</vt:lpstr>
      <vt:lpstr>Architecture</vt:lpstr>
      <vt:lpstr>Data and evaluation protocol</vt:lpstr>
      <vt:lpstr>Results in this synthetic setting</vt:lpstr>
      <vt:lpstr>Dashboard and example moment</vt:lpstr>
      <vt:lpstr>Limitations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DiaTwin</dc:title>
  <dc:subject>PptxGenJS Presentation</dc:subject>
  <dc:creator>PptxGenJS</dc:creator>
  <cp:lastModifiedBy>princemaur7@gmail.com</cp:lastModifiedBy>
  <cp:revision>2</cp:revision>
  <dcterms:created xsi:type="dcterms:W3CDTF">2026-10-19T10:15:03Z</dcterms:created>
  <dcterms:modified xsi:type="dcterms:W3CDTF">2026-10-20T04:42:19Z</dcterms:modified>
</cp:coreProperties>
</file>